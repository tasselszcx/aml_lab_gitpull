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"/>
  </p:notesMasterIdLst>
  <p:sldIdLst>
    <p:sldId id="365" r:id="rId2"/>
    <p:sldId id="367" r:id="rId3"/>
    <p:sldId id="356" r:id="rId4"/>
    <p:sldId id="368" r:id="rId5"/>
    <p:sldId id="258" r:id="rId6"/>
    <p:sldId id="259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4112" userDrawn="1">
          <p15:clr>
            <a:srgbClr val="A4A3A4"/>
          </p15:clr>
        </p15:guide>
        <p15:guide id="4" pos="415" userDrawn="1">
          <p15:clr>
            <a:srgbClr val="A4A3A4"/>
          </p15:clr>
        </p15:guide>
        <p15:guide id="6" orient="horz" pos="1457" userDrawn="1">
          <p15:clr>
            <a:srgbClr val="A4A3A4"/>
          </p15:clr>
        </p15:guide>
        <p15:guide id="7" pos="72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44C89"/>
    <a:srgbClr val="4E81C0"/>
    <a:srgbClr val="313D51"/>
    <a:srgbClr val="433D3C"/>
    <a:srgbClr val="C00000"/>
    <a:srgbClr val="F0F2F4"/>
    <a:srgbClr val="0B2C4F"/>
    <a:srgbClr val="213555"/>
    <a:srgbClr val="263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3" autoAdjust="0"/>
    <p:restoredTop sz="96314" autoAdjust="0"/>
  </p:normalViewPr>
  <p:slideViewPr>
    <p:cSldViewPr snapToGrid="0">
      <p:cViewPr varScale="1">
        <p:scale>
          <a:sx n="102" d="100"/>
          <a:sy n="102" d="100"/>
        </p:scale>
        <p:origin x="216" y="72"/>
      </p:cViewPr>
      <p:guideLst>
        <p:guide pos="4112"/>
        <p:guide pos="415"/>
        <p:guide orient="horz" pos="1457"/>
        <p:guide pos="721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B2E5B-1A0B-4F0A-9547-4FB8D13F2C5F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CF89-91F4-45FB-A589-58532703F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893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A5627-0DAE-9806-7973-1D43CBFA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BA60DB-C70C-C709-DE3F-9C23B0880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1913A-5F6F-9215-29C8-432764FFF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BC129F-5EC8-2526-521D-4E2B721D2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08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82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A5A6-CACB-A6B4-69FF-D03B8FE1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4A952C-988F-EDEE-87F2-1148D99C0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52588F-25A8-6FC4-1793-A47732E7C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9D2A7-CEA5-9C62-5A5F-1C2B15C99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8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55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标题 1"/>
          <p:cNvSpPr>
            <a:spLocks noGrp="1"/>
          </p:cNvSpPr>
          <p:nvPr>
            <p:ph type="title" hasCustomPrompt="1"/>
          </p:nvPr>
        </p:nvSpPr>
        <p:spPr>
          <a:xfrm>
            <a:off x="1406898" y="752801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244C89"/>
                </a:solidFill>
                <a:ea typeface="思源黑体" panose="020B0500000000000000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861588" y="857970"/>
            <a:ext cx="441095" cy="525190"/>
          </a:xfrm>
          <a:custGeom>
            <a:avLst/>
            <a:gdLst>
              <a:gd name="T0" fmla="*/ 269 w 537"/>
              <a:gd name="T1" fmla="*/ 0 h 623"/>
              <a:gd name="T2" fmla="*/ 403 w 537"/>
              <a:gd name="T3" fmla="*/ 78 h 623"/>
              <a:gd name="T4" fmla="*/ 537 w 537"/>
              <a:gd name="T5" fmla="*/ 156 h 623"/>
              <a:gd name="T6" fmla="*/ 537 w 537"/>
              <a:gd name="T7" fmla="*/ 311 h 623"/>
              <a:gd name="T8" fmla="*/ 537 w 537"/>
              <a:gd name="T9" fmla="*/ 467 h 623"/>
              <a:gd name="T10" fmla="*/ 403 w 537"/>
              <a:gd name="T11" fmla="*/ 545 h 623"/>
              <a:gd name="T12" fmla="*/ 269 w 537"/>
              <a:gd name="T13" fmla="*/ 623 h 623"/>
              <a:gd name="T14" fmla="*/ 134 w 537"/>
              <a:gd name="T15" fmla="*/ 545 h 623"/>
              <a:gd name="T16" fmla="*/ 0 w 537"/>
              <a:gd name="T17" fmla="*/ 467 h 623"/>
              <a:gd name="T18" fmla="*/ 0 w 537"/>
              <a:gd name="T19" fmla="*/ 311 h 623"/>
              <a:gd name="T20" fmla="*/ 0 w 537"/>
              <a:gd name="T21" fmla="*/ 156 h 623"/>
              <a:gd name="T22" fmla="*/ 134 w 537"/>
              <a:gd name="T23" fmla="*/ 78 h 623"/>
              <a:gd name="T24" fmla="*/ 269 w 537"/>
              <a:gd name="T25" fmla="*/ 0 h 623"/>
              <a:gd name="T26" fmla="*/ 269 w 537"/>
              <a:gd name="T27" fmla="*/ 53 h 623"/>
              <a:gd name="T28" fmla="*/ 380 w 537"/>
              <a:gd name="T29" fmla="*/ 117 h 623"/>
              <a:gd name="T30" fmla="*/ 492 w 537"/>
              <a:gd name="T31" fmla="*/ 182 h 623"/>
              <a:gd name="T32" fmla="*/ 492 w 537"/>
              <a:gd name="T33" fmla="*/ 311 h 623"/>
              <a:gd name="T34" fmla="*/ 492 w 537"/>
              <a:gd name="T35" fmla="*/ 441 h 623"/>
              <a:gd name="T36" fmla="*/ 380 w 537"/>
              <a:gd name="T37" fmla="*/ 505 h 623"/>
              <a:gd name="T38" fmla="*/ 269 w 537"/>
              <a:gd name="T39" fmla="*/ 570 h 623"/>
              <a:gd name="T40" fmla="*/ 157 w 537"/>
              <a:gd name="T41" fmla="*/ 505 h 623"/>
              <a:gd name="T42" fmla="*/ 46 w 537"/>
              <a:gd name="T43" fmla="*/ 441 h 623"/>
              <a:gd name="T44" fmla="*/ 46 w 537"/>
              <a:gd name="T45" fmla="*/ 311 h 623"/>
              <a:gd name="T46" fmla="*/ 46 w 537"/>
              <a:gd name="T47" fmla="*/ 182 h 623"/>
              <a:gd name="T48" fmla="*/ 157 w 537"/>
              <a:gd name="T49" fmla="*/ 117 h 623"/>
              <a:gd name="T50" fmla="*/ 269 w 537"/>
              <a:gd name="T51" fmla="*/ 53 h 623"/>
              <a:gd name="T52" fmla="*/ 215 w 537"/>
              <a:gd name="T53" fmla="*/ 455 h 623"/>
              <a:gd name="T54" fmla="*/ 367 w 537"/>
              <a:gd name="T55" fmla="*/ 455 h 623"/>
              <a:gd name="T56" fmla="*/ 375 w 537"/>
              <a:gd name="T57" fmla="*/ 463 h 623"/>
              <a:gd name="T58" fmla="*/ 367 w 537"/>
              <a:gd name="T59" fmla="*/ 471 h 623"/>
              <a:gd name="T60" fmla="*/ 215 w 537"/>
              <a:gd name="T61" fmla="*/ 471 h 623"/>
              <a:gd name="T62" fmla="*/ 207 w 537"/>
              <a:gd name="T63" fmla="*/ 463 h 623"/>
              <a:gd name="T64" fmla="*/ 215 w 537"/>
              <a:gd name="T65" fmla="*/ 455 h 623"/>
              <a:gd name="T66" fmla="*/ 218 w 537"/>
              <a:gd name="T67" fmla="*/ 380 h 623"/>
              <a:gd name="T68" fmla="*/ 302 w 537"/>
              <a:gd name="T69" fmla="*/ 242 h 623"/>
              <a:gd name="T70" fmla="*/ 331 w 537"/>
              <a:gd name="T71" fmla="*/ 260 h 623"/>
              <a:gd name="T72" fmla="*/ 248 w 537"/>
              <a:gd name="T73" fmla="*/ 398 h 623"/>
              <a:gd name="T74" fmla="*/ 218 w 537"/>
              <a:gd name="T75" fmla="*/ 380 h 623"/>
              <a:gd name="T76" fmla="*/ 159 w 537"/>
              <a:gd name="T77" fmla="*/ 344 h 623"/>
              <a:gd name="T78" fmla="*/ 243 w 537"/>
              <a:gd name="T79" fmla="*/ 207 h 623"/>
              <a:gd name="T80" fmla="*/ 272 w 537"/>
              <a:gd name="T81" fmla="*/ 224 h 623"/>
              <a:gd name="T82" fmla="*/ 189 w 537"/>
              <a:gd name="T83" fmla="*/ 362 h 623"/>
              <a:gd name="T84" fmla="*/ 159 w 537"/>
              <a:gd name="T85" fmla="*/ 344 h 623"/>
              <a:gd name="T86" fmla="*/ 146 w 537"/>
              <a:gd name="T87" fmla="*/ 456 h 623"/>
              <a:gd name="T88" fmla="*/ 154 w 537"/>
              <a:gd name="T89" fmla="*/ 387 h 623"/>
              <a:gd name="T90" fmla="*/ 211 w 537"/>
              <a:gd name="T91" fmla="*/ 422 h 623"/>
              <a:gd name="T92" fmla="*/ 155 w 537"/>
              <a:gd name="T93" fmla="*/ 461 h 623"/>
              <a:gd name="T94" fmla="*/ 146 w 537"/>
              <a:gd name="T95" fmla="*/ 456 h 623"/>
              <a:gd name="T96" fmla="*/ 266 w 537"/>
              <a:gd name="T97" fmla="*/ 168 h 623"/>
              <a:gd name="T98" fmla="*/ 253 w 537"/>
              <a:gd name="T99" fmla="*/ 188 h 623"/>
              <a:gd name="T100" fmla="*/ 342 w 537"/>
              <a:gd name="T101" fmla="*/ 242 h 623"/>
              <a:gd name="T102" fmla="*/ 354 w 537"/>
              <a:gd name="T103" fmla="*/ 222 h 623"/>
              <a:gd name="T104" fmla="*/ 266 w 537"/>
              <a:gd name="T105" fmla="*/ 168 h 623"/>
              <a:gd name="T106" fmla="*/ 285 w 537"/>
              <a:gd name="T107" fmla="*/ 138 h 623"/>
              <a:gd name="T108" fmla="*/ 311 w 537"/>
              <a:gd name="T109" fmla="*/ 131 h 623"/>
              <a:gd name="T110" fmla="*/ 366 w 537"/>
              <a:gd name="T111" fmla="*/ 165 h 623"/>
              <a:gd name="T112" fmla="*/ 373 w 537"/>
              <a:gd name="T113" fmla="*/ 191 h 623"/>
              <a:gd name="T114" fmla="*/ 365 w 537"/>
              <a:gd name="T115" fmla="*/ 204 h 623"/>
              <a:gd name="T116" fmla="*/ 277 w 537"/>
              <a:gd name="T117" fmla="*/ 150 h 623"/>
              <a:gd name="T118" fmla="*/ 285 w 537"/>
              <a:gd name="T119" fmla="*/ 138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37" h="623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244C89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799">
              <a:solidFill>
                <a:schemeClr val="bg1"/>
              </a:solidFill>
            </a:endParaRPr>
          </a:p>
        </p:txBody>
      </p:sp>
      <p:sp>
        <p:nvSpPr>
          <p:cNvPr id="6" name="PA_文本框 1">
            <a:extLst>
              <a:ext uri="{FF2B5EF4-FFF2-40B4-BE49-F238E27FC236}">
                <a16:creationId xmlns:a16="http://schemas.microsoft.com/office/drawing/2014/main" id="{BA0F9515-D5AE-4BED-A481-29A81D6010F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508454" y="1130748"/>
            <a:ext cx="1982056" cy="314766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sz="1400" dirty="0">
                <a:solidFill>
                  <a:srgbClr val="313D51"/>
                </a:solidFill>
                <a:cs typeface="+mn-ea"/>
                <a:sym typeface="+mn-lt"/>
              </a:rPr>
              <a:t>GRADUATION DEFENSE</a:t>
            </a:r>
          </a:p>
        </p:txBody>
      </p:sp>
    </p:spTree>
    <p:extLst>
      <p:ext uri="{BB962C8B-B14F-4D97-AF65-F5344CB8AC3E}">
        <p14:creationId xmlns:p14="http://schemas.microsoft.com/office/powerpoint/2010/main" val="334257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6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02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EAA1B-A7B1-B31A-A036-67678D1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F3ADE9-2E3F-72C2-0540-35480B2C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996336-7DA4-B105-0642-58501EAD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17AA-439B-4750-86F9-4C786FFEC62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25EE04-1FB6-AC18-4A8B-DC1C2A47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FFF04C-4808-183E-9D41-6AAA4C0F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18F81-C263-465C-8FCE-8ED9F5B511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28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01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9"/>
            <a:ext cx="12192000" cy="685218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7C8578F-5B06-7E06-730C-0966FD6C4DD5}"/>
              </a:ext>
            </a:extLst>
          </p:cNvPr>
          <p:cNvSpPr txBox="1"/>
          <p:nvPr/>
        </p:nvSpPr>
        <p:spPr>
          <a:xfrm>
            <a:off x="2491112" y="1145512"/>
            <a:ext cx="7028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600" b="1" dirty="0"/>
              <a:t>Multi-Modal Sensor Fusion System for Hands-Free Mobile Interaction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4D5B3BC-E9E9-CFB4-4192-AC8DA06BC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31" y="2819545"/>
            <a:ext cx="6019029" cy="308674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CB261FE-C360-B415-400D-CC330C486ECC}"/>
              </a:ext>
            </a:extLst>
          </p:cNvPr>
          <p:cNvSpPr txBox="1"/>
          <p:nvPr/>
        </p:nvSpPr>
        <p:spPr>
          <a:xfrm>
            <a:off x="7415408" y="2706811"/>
            <a:ext cx="391646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/>
              <a:t>Group Name: </a:t>
            </a:r>
          </a:p>
          <a:p>
            <a:pPr lvl="1"/>
            <a:r>
              <a:rPr lang="en-US" altLang="zh-CN" sz="2800" b="1" dirty="0" err="1"/>
              <a:t>Gitpull</a:t>
            </a:r>
            <a:endParaRPr lang="en-US" altLang="zh-CN" sz="2800" b="1" dirty="0"/>
          </a:p>
          <a:p>
            <a:pPr>
              <a:buNone/>
            </a:pPr>
            <a:endParaRPr lang="en-US" altLang="zh-CN" sz="3200" b="1" dirty="0"/>
          </a:p>
          <a:p>
            <a:pPr>
              <a:buNone/>
            </a:pPr>
            <a:r>
              <a:rPr lang="en-US" altLang="zh-CN" sz="3200" b="1" dirty="0"/>
              <a:t>Team Member: </a:t>
            </a:r>
          </a:p>
          <a:p>
            <a:pPr lvl="1"/>
            <a:r>
              <a:rPr lang="en-US" altLang="zh-CN" sz="2800" b="1" dirty="0"/>
              <a:t>Chenxu Zhang</a:t>
            </a:r>
          </a:p>
          <a:p>
            <a:pPr lvl="1"/>
            <a:r>
              <a:rPr lang="en-US" altLang="zh-CN" sz="2800" b="1" dirty="0"/>
              <a:t>Siyuan Zhang</a:t>
            </a:r>
          </a:p>
          <a:p>
            <a:pPr lvl="1"/>
            <a:r>
              <a:rPr lang="en-US" altLang="zh-CN" sz="2800" b="1" dirty="0" err="1"/>
              <a:t>Kunpeng</a:t>
            </a:r>
            <a:r>
              <a:rPr lang="en-US" altLang="zh-CN" sz="2800" b="1" dirty="0"/>
              <a:t> xu</a:t>
            </a:r>
          </a:p>
        </p:txBody>
      </p:sp>
    </p:spTree>
    <p:extLst>
      <p:ext uri="{BB962C8B-B14F-4D97-AF65-F5344CB8AC3E}">
        <p14:creationId xmlns:p14="http://schemas.microsoft.com/office/powerpoint/2010/main" val="343239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EDAD-E0A1-FB75-6176-1F7C30EE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9F13722-943B-5652-E559-54B5DB6A1E51}"/>
              </a:ext>
            </a:extLst>
          </p:cNvPr>
          <p:cNvSpPr txBox="1"/>
          <p:nvPr/>
        </p:nvSpPr>
        <p:spPr>
          <a:xfrm>
            <a:off x="739035" y="461970"/>
            <a:ext cx="9738986" cy="593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altLang="zh-CN" sz="2400" b="1" dirty="0"/>
              <a:t>The Problem: Why Hands-Free?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 The Primary Need: Accessibility</a:t>
            </a:r>
            <a:endParaRPr lang="en-US" altLang="zh-CN" sz="2000" dirty="0"/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 significant user base with motor impairments (e.g., ALS, spinal cord injuries) lacks the fine motor control required for standard touchscreen interaction.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We see a critical need for a more intuitive, low-cost, and non-invasive alternative.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 The Growing Problem: Hands-Occupied Scenarios</a:t>
            </a:r>
            <a:endParaRPr lang="en-US" altLang="zh-CN" sz="2000" dirty="0"/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Sterile Environments:</a:t>
            </a:r>
            <a:r>
              <a:rPr lang="en-US" altLang="zh-CN" dirty="0"/>
              <a:t> Surgeons or lab technicians who cannot touch a non-sterile screen.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Work/Industrial:</a:t>
            </a:r>
            <a:r>
              <a:rPr lang="en-US" altLang="zh-CN" dirty="0"/>
              <a:t> Mechanics needing information while handling tools.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On the Move:</a:t>
            </a:r>
            <a:r>
              <a:rPr lang="en-US" altLang="zh-CN" dirty="0"/>
              <a:t> Drivers or cyclists interacting with navigation.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Future Tech:</a:t>
            </a:r>
            <a:r>
              <a:rPr lang="en-US" altLang="zh-CN" dirty="0"/>
              <a:t> The rise of Augmented Reality (AR) glasses, where hands-free input is essential.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>
              <a:lnSpc>
                <a:spcPct val="110000"/>
              </a:lnSpc>
              <a:buNone/>
            </a:pPr>
            <a:r>
              <a:rPr lang="en-US" altLang="zh-CN" sz="2400" b="1" dirty="0"/>
              <a:t>Our Idea: An Intuitive &amp; Multi-Modal System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 The Concept:</a:t>
            </a:r>
            <a:r>
              <a:rPr lang="en-US" altLang="zh-CN" dirty="0"/>
              <a:t> A non-invasive, wearable system that fuses data from two key sensor types (IMU + EOG).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 The Interaction:</a:t>
            </a:r>
            <a:r>
              <a:rPr lang="en-US" altLang="zh-CN" dirty="0"/>
              <a:t> This multi-modal approach leverages natural, low-effort gestures (head movements and eye blinks) to perform core mobile functions.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 The Goal:</a:t>
            </a:r>
            <a:r>
              <a:rPr lang="en-US" altLang="zh-CN" dirty="0"/>
              <a:t> To provide a reliable, real-time, and intuitive control solution for users who cannot use their hands.</a:t>
            </a:r>
          </a:p>
        </p:txBody>
      </p:sp>
    </p:spTree>
    <p:extLst>
      <p:ext uri="{BB962C8B-B14F-4D97-AF65-F5344CB8AC3E}">
        <p14:creationId xmlns:p14="http://schemas.microsoft.com/office/powerpoint/2010/main" val="41160302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49C509-1DA0-50B0-EB27-E5C166DF8102}"/>
              </a:ext>
            </a:extLst>
          </p:cNvPr>
          <p:cNvSpPr txBox="1"/>
          <p:nvPr/>
        </p:nvSpPr>
        <p:spPr>
          <a:xfrm>
            <a:off x="816279" y="679337"/>
            <a:ext cx="10559441" cy="549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dirty="0"/>
              <a:t>Project Pipeline: From Gesture to Action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dirty="0"/>
              <a:t>This is how we translate a user's thought (gesture) into a phone's action (click).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SENSE (Hardware: Arduino)</a:t>
            </a:r>
            <a:endParaRPr lang="en-US" altLang="zh-CN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IMU</a:t>
            </a:r>
            <a:r>
              <a:rPr lang="en-US" altLang="zh-CN" dirty="0"/>
              <a:t> sensor captures macro head movements (Nod, Shake).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EOG</a:t>
            </a:r>
            <a:r>
              <a:rPr lang="en-US" altLang="zh-CN" dirty="0"/>
              <a:t> sensor captures micro eye-muscle signals (Blink, Gaze).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TRANSMIT (Hardware → PC)</a:t>
            </a:r>
            <a:endParaRPr lang="en-US" altLang="zh-CN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All sensor data is streamed in real-time to a PC via </a:t>
            </a:r>
            <a:r>
              <a:rPr lang="en-US" altLang="zh-CN" b="1" dirty="0"/>
              <a:t>USB</a:t>
            </a:r>
            <a:r>
              <a:rPr lang="en-US" altLang="zh-CN" dirty="0"/>
              <a:t>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ANALYZE (Software: PC)</a:t>
            </a:r>
            <a:endParaRPr lang="en-US" altLang="zh-CN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A Python script receives the data stream.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An </a:t>
            </a:r>
            <a:r>
              <a:rPr lang="en-US" altLang="zh-CN" b="1" dirty="0"/>
              <a:t>AI Model (ML)</a:t>
            </a:r>
            <a:r>
              <a:rPr lang="en-US" altLang="zh-CN" dirty="0"/>
              <a:t> classifies the data in real-time, mapping gesture patterns to commands (e.g., "Nod" gesture → "CLICK" command).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FORWARD (PC → Phone)</a:t>
            </a:r>
            <a:endParaRPr lang="en-US" altLang="zh-CN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The PC sends the simple command string (e.g., "CLICK") over </a:t>
            </a:r>
            <a:r>
              <a:rPr lang="en-US" altLang="zh-CN" b="1" dirty="0"/>
              <a:t>Wi-Fi</a:t>
            </a:r>
            <a:r>
              <a:rPr lang="en-US" altLang="zh-CN" dirty="0"/>
              <a:t> to a companion app on the phone.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EXECUTE (Software: Phone)</a:t>
            </a:r>
            <a:endParaRPr lang="en-US" altLang="zh-CN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The phone app receives the command.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It uses an </a:t>
            </a:r>
            <a:r>
              <a:rPr lang="en-US" altLang="zh-CN" b="1" dirty="0"/>
              <a:t>Accessibility Service</a:t>
            </a:r>
            <a:r>
              <a:rPr lang="en-US" altLang="zh-CN" dirty="0"/>
              <a:t> to execute the action (e.g., simulate a tap, a swipe, or the "Back" button).</a:t>
            </a:r>
          </a:p>
        </p:txBody>
      </p:sp>
    </p:spTree>
    <p:extLst>
      <p:ext uri="{BB962C8B-B14F-4D97-AF65-F5344CB8AC3E}">
        <p14:creationId xmlns:p14="http://schemas.microsoft.com/office/powerpoint/2010/main" val="3332412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EF2BE-F3C5-DD28-D510-910E1591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421F64-9F45-FE42-EFDD-D0FCC988C497}"/>
              </a:ext>
            </a:extLst>
          </p:cNvPr>
          <p:cNvSpPr txBox="1"/>
          <p:nvPr/>
        </p:nvSpPr>
        <p:spPr>
          <a:xfrm>
            <a:off x="582460" y="691969"/>
            <a:ext cx="450936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Sensor Selection</a:t>
            </a:r>
          </a:p>
          <a:p>
            <a:r>
              <a:rPr lang="en-US" altLang="zh-CN" b="1" dirty="0"/>
              <a:t>IMU (Inertial Measurement Unit)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For:</a:t>
            </a:r>
            <a:r>
              <a:rPr lang="en-US" altLang="zh-CN" dirty="0"/>
              <a:t> Head Gestures (Nod, Shake, Tilt).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Why:</a:t>
            </a:r>
            <a:r>
              <a:rPr lang="en-US" altLang="zh-CN" dirty="0"/>
              <a:t> Provides 6-axis data (accelerometer + gyroscope). Accurately tracks head orientation and high-speed motion in 3D space.</a:t>
            </a:r>
          </a:p>
          <a:p>
            <a:r>
              <a:rPr lang="en-US" altLang="zh-CN" b="1" dirty="0"/>
              <a:t>EOG (Electrooculography)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For:</a:t>
            </a:r>
            <a:r>
              <a:rPr lang="en-US" altLang="zh-CN" dirty="0"/>
              <a:t> Eye Gestures (Blink, Gaze Left/Right).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Why:</a:t>
            </a:r>
            <a:r>
              <a:rPr lang="en-US" altLang="zh-CN" dirty="0"/>
              <a:t> A non-invasive method to detect eye movement. It measures the small electrical potential changes between the front and back of the eye.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438F8-2212-4604-8DC0-073418D06105}"/>
              </a:ext>
            </a:extLst>
          </p:cNvPr>
          <p:cNvSpPr txBox="1"/>
          <p:nvPr/>
        </p:nvSpPr>
        <p:spPr>
          <a:xfrm>
            <a:off x="5321996" y="623045"/>
            <a:ext cx="60970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Machine Learning (ML) Integration</a:t>
            </a:r>
          </a:p>
          <a:p>
            <a:r>
              <a:rPr lang="en-US" altLang="zh-CN" b="1" dirty="0"/>
              <a:t>1. Data Acquisition (Offline Prep)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 Plan to use a Python script to record and label sensor data (7 channels: 6-IMU + 1-EOG).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 will capture hundreds of samples for each gesture: Nod, Shake, Blink, etc.</a:t>
            </a:r>
          </a:p>
          <a:p>
            <a:r>
              <a:rPr lang="en-US" altLang="zh-CN" b="1" dirty="0"/>
              <a:t>2. Model Training (Offline Prep)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Data is segmented into "time windows" (e.g., 1.5 seconds).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</a:t>
            </a:r>
            <a:r>
              <a:rPr lang="en-US" altLang="zh-CN" b="1" dirty="0"/>
              <a:t>Time-Series Classification Model</a:t>
            </a:r>
            <a:r>
              <a:rPr lang="en-US" altLang="zh-CN" dirty="0"/>
              <a:t> (e.g., CNN or LSTM) is trained to classify these windows.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Result:</a:t>
            </a:r>
            <a:r>
              <a:rPr lang="en-US" altLang="zh-CN" dirty="0"/>
              <a:t> A model that can map a 1.5-second snapshot of sensor data to a specific gesture.</a:t>
            </a:r>
          </a:p>
          <a:p>
            <a:r>
              <a:rPr lang="en-US" altLang="zh-CN" b="1" dirty="0"/>
              <a:t>3. Real-Time Inference (Live Execution)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trained model runs in our main PC Python script.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It continuously "scores" the live data stream from the Arduino.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When a gesture is detected with high confidence (e.g., “Nod” &gt; 95%), it triggers the command to be sent to the phone and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phone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well.</a:t>
            </a:r>
          </a:p>
        </p:txBody>
      </p:sp>
    </p:spTree>
    <p:extLst>
      <p:ext uri="{BB962C8B-B14F-4D97-AF65-F5344CB8AC3E}">
        <p14:creationId xmlns:p14="http://schemas.microsoft.com/office/powerpoint/2010/main" val="31309585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34201BF-0692-2188-A5B1-210E50AE2299}"/>
              </a:ext>
            </a:extLst>
          </p:cNvPr>
          <p:cNvSpPr txBox="1"/>
          <p:nvPr/>
        </p:nvSpPr>
        <p:spPr>
          <a:xfrm>
            <a:off x="221151" y="832527"/>
            <a:ext cx="11749697" cy="5969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buNone/>
            </a:pPr>
            <a:r>
              <a:rPr lang="en-US" altLang="zh-CN" sz="2400" b="1" dirty="0"/>
              <a:t>Background: The At-Home Yoga Dilemma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b="1" dirty="0"/>
              <a:t>The Problem:</a:t>
            </a:r>
            <a:r>
              <a:rPr lang="en-US" altLang="zh-CN" dirty="0"/>
              <a:t> The global popularity of at-home yoga (driven by apps and videos) is rising. However, practicing without an instructor leads to a high risk of incorrect form and misalignment.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b="1" dirty="0"/>
              <a:t>The Need:</a:t>
            </a:r>
            <a:r>
              <a:rPr lang="en-US" altLang="zh-CN" dirty="0"/>
              <a:t> Novice and intermediate practitioners lack the real-time, personalized, and accurate feedback necessary to correct their alignment and practice safely.</a:t>
            </a:r>
          </a:p>
          <a:p>
            <a:pPr>
              <a:lnSpc>
                <a:spcPct val="114000"/>
              </a:lnSpc>
              <a:buNone/>
            </a:pPr>
            <a:endParaRPr lang="en-US" altLang="zh-CN" dirty="0"/>
          </a:p>
          <a:p>
            <a:pPr>
              <a:lnSpc>
                <a:spcPct val="114000"/>
              </a:lnSpc>
              <a:buNone/>
            </a:pPr>
            <a:r>
              <a:rPr lang="en-US" altLang="zh-CN" sz="2400" b="1" dirty="0"/>
              <a:t>Our 3-Step Pipeline: From Motion to Correction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b="1" dirty="0"/>
              <a:t>1. sensor</a:t>
            </a:r>
            <a:endParaRPr lang="en-US" altLang="zh-CN" dirty="0"/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 Lightweight IMUs are placed on key body points (e.g., spine, hips, knees, shoulders).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 These sensors capture 3D biomechanical data (orientation, acceleration) in real-time.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b="1" dirty="0"/>
              <a:t>2. ANALYZE</a:t>
            </a:r>
            <a:endParaRPr lang="en-US" altLang="zh-CN" dirty="0"/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Data is streamed via Low-Energy Bluetooth to a mobile application.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 proprietary AI model analyzes the incoming data, reconstructs a 3D model of the user's pose, and compares it against a database of ideal postures.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b="1" dirty="0"/>
              <a:t>3. CORRECT</a:t>
            </a:r>
            <a:endParaRPr lang="en-US" altLang="zh-CN" dirty="0"/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The system instantly detects critical deviations from safe alignment (e.g., incorrect spinal alignment, joint angles, or weight distribution).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The user receives immediate, gentle, and specific corrective commands via audio (e.g., “Engage your core “)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573A46-794B-7C3A-DACE-B307A2CD9CDF}"/>
              </a:ext>
            </a:extLst>
          </p:cNvPr>
          <p:cNvSpPr txBox="1"/>
          <p:nvPr/>
        </p:nvSpPr>
        <p:spPr>
          <a:xfrm>
            <a:off x="221151" y="233013"/>
            <a:ext cx="10682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ea typeface="+mj-lt"/>
                <a:cs typeface="+mj-lt"/>
              </a:rPr>
              <a:t>Idea2:</a:t>
            </a:r>
            <a:r>
              <a:rPr lang="zh-CN" altLang="en-US" sz="2800" b="1" dirty="0">
                <a:ea typeface="+mj-lt"/>
                <a:cs typeface="+mj-lt"/>
              </a:rPr>
              <a:t> </a:t>
            </a:r>
            <a:r>
              <a:rPr lang="zh-CN" altLang="zh-CN" sz="2800" b="1" dirty="0">
                <a:ea typeface="+mj-lt"/>
                <a:cs typeface="+mj-lt"/>
              </a:rPr>
              <a:t>AuraAlign: Your Personal AI Yoga Instructor</a:t>
            </a:r>
            <a:r>
              <a:rPr lang="zh-CN" altLang="zh-CN" sz="2800" dirty="0">
                <a:ea typeface="+mj-lt"/>
                <a:cs typeface="+mj-lt"/>
              </a:rPr>
              <a:t> </a:t>
            </a:r>
            <a:endParaRPr lang="en-US" altLang="zh-CN" sz="2800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417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E6278B2-4A7A-632E-53EA-F0692D203E21}"/>
              </a:ext>
            </a:extLst>
          </p:cNvPr>
          <p:cNvSpPr txBox="1"/>
          <p:nvPr/>
        </p:nvSpPr>
        <p:spPr>
          <a:xfrm>
            <a:off x="413658" y="3024494"/>
            <a:ext cx="115835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2. AI &amp; Biomechanical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Core Model:</a:t>
            </a:r>
            <a:r>
              <a:rPr lang="en-US" altLang="zh-CN" dirty="0"/>
              <a:t> A deep learning model trained on a vast dataset of yoga postures from certified instructors, accommodating various body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Real-Time Analysis:</a:t>
            </a:r>
            <a:r>
              <a:rPr lang="en-US" altLang="zh-CN" dirty="0"/>
              <a:t> The engine performs rapid sensor fusion to calculate 3D joint angles, spinal curvature, and center of balance.</a:t>
            </a:r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3. User Interface (Mobile Application)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The Audio Coach:</a:t>
            </a:r>
            <a:r>
              <a:rPr lang="en-US" altLang="zh-CN" dirty="0"/>
              <a:t> Provides clear and actionable voice feedback. The primary interface during practice.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Visual Feedback:</a:t>
            </a:r>
            <a:r>
              <a:rPr lang="en-US" altLang="zh-CN" dirty="0"/>
              <a:t> A companion UI on the app shows a real-time 3D avatar of the user, visually highlighting areas that need correction.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6BCBDB-4DBB-2EB8-214C-47BA6FA1B3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513" y="605017"/>
            <a:ext cx="5022458" cy="28239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F4BE6A8-9074-686F-487B-E69774F3AE28}"/>
              </a:ext>
            </a:extLst>
          </p:cNvPr>
          <p:cNvSpPr txBox="1"/>
          <p:nvPr/>
        </p:nvSpPr>
        <p:spPr>
          <a:xfrm>
            <a:off x="413658" y="495705"/>
            <a:ext cx="609485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/>
              <a:t>Core Technology</a:t>
            </a:r>
          </a:p>
          <a:p>
            <a:pPr>
              <a:buNone/>
            </a:pPr>
            <a:r>
              <a:rPr lang="en-US" altLang="zh-CN" b="1" dirty="0"/>
              <a:t>1. Wearable Sensor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Hardware:</a:t>
            </a:r>
            <a:r>
              <a:rPr lang="en-US" altLang="zh-CN" dirty="0"/>
              <a:t> Multi-axis IMUs (Inertial Measurement Units) combining 3-axis accelerometers, 3-axis gyroscopes, and magnetometers for high-fidelity motion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Design:</a:t>
            </a:r>
            <a:r>
              <a:rPr lang="en-US" altLang="zh-CN" dirty="0"/>
              <a:t> Sensors are integrated into a comfortable, breathable smart garment (e.g., leggings, top) or as discrete, lightweight pods that can be attached to existing clothing.</a:t>
            </a:r>
          </a:p>
        </p:txBody>
      </p:sp>
    </p:spTree>
    <p:extLst>
      <p:ext uri="{BB962C8B-B14F-4D97-AF65-F5344CB8AC3E}">
        <p14:creationId xmlns:p14="http://schemas.microsoft.com/office/powerpoint/2010/main" val="36279771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7A251DB4-07BE-47B3-8E91-FE7746FF9ADF"/>
  <p:tag name="ISPRING_SCORM_RATE_SLIDES" val="1"/>
  <p:tag name="ISPRING_SCORM_PASSING_SCORE" val="100.0000000000"/>
  <p:tag name="ISPRINGONLINEFOLDERID" val="0"/>
  <p:tag name="ISPRINGONLINEFOLDERPATH" val="Content List"/>
  <p:tag name="ISPRINGCLOUDFOLDERID" val="0"/>
  <p:tag name="ISPRINGCLOUDFOLDERPATH" val="Repository"/>
  <p:tag name="ISPRING_RESOURCE_PATHS_HASH_PRESENTER" val="dda1421ddb3ffb98a498c34c1cc89e982539480"/>
  <p:tag name="ISPRING_PRESENTATION_TITLE" val="毕业论文答辩PPT-13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CBerJKWn+5mToEAADhDgAAHQAAAHVuaXZlcnNhbC9jb21tb25fbWVzc2FnZXMubG5nrVf/bts2EP6/QN+BEFBgA7a0HdCiGBIHtMTYQmTJleg42Q8IjMTYRCgxkyi32V99mj7YnmRHym7spoOkdIBtmLTvu9Pdd9+Rx6cfC4k2vKqFKk+c10evHMTLTOWiXJ04C3r28zsH1ZqVOZOq5CdOqRx0Onr+7FiyctWwFYfvz58hdFzwuoZlPTKrhzUS+YkzH6duNJvj8CoNokmUjv2JM3JVccfKexSolfqj+uGXt+8+vn7z9sfjl1vLPkDJDAfBIRSySG9e9QAKaRwFKaCRIA3JJXVG5nOYXbSggR8SZ7T9Msx6HpMLZ2Q+O+0WcUxCmiaB75HUT9IwojYXAaHEc0ZXqkFrtuFIK7QR/APSaw6V1KLiqJYitz9kCjbKhnc586IZ9sM0JgmNfZf6UeiMElVV9z9ZWNbotarAXY1yUbNryXPrEzhjf7+reA2umQZOIXjptYB/qoKJ8qjTdYyXfjhJaRQFSUpCb7fjjEiZI69ixs1AlBgnJAaAitW8eoJtallmzRGWchjC1J9MA3hTE8JUrNYS3npoHHMCNZjzsssKOEJiYFeSLKPYM0kDV4ihO1bXH1SVH/Bjv1BdwH7oRkBBl+6BU4OxA4YaC1COquKZ7gKbkSTBE5KOo0sgMvRdNMQiOod2Ox9icUUSaBGSdNmE+MKfYEN402I7/u/6K2OGzvIesSwDO5O+jVBNDTsmpdAFttPqYV4S8n4BVfNx8I0ubgEhsbZeK7HhEEKVd7MHNMUlnuHP+4X/W3qG/YB4KRDKi5YptWJnnDGQh1JpxKRU5gHAL8s3rMw4uuYZa4Dw9/C3XOT2b6bYNpK/GvE3YnorLS+2qhR65PLF0cDQDoTscYRFU0N4WvPiTne53gv/KVEYYv9nCH0efaD/pG3WsQ8dMBaqvwUBeTaCBIoq+1v54Rk4mrc9D6LglzcDfIbRFiBU6KkYF5CqgxAuIIUD7JdknPgUhu2SX9dCd84xW9m2QN8uagYHB8k1fyjsNb9R0BOSs007zkDWbKU7C7o3LQ+0h/o0gJBDAFy1IxEgpSgg/rwH5mJGdhloJePgSZaqkbltUSlurWxAbpuCP57DN5Uq7K5k9Y68rWqdfk8U7cPFrdP5gHmSEBy709TFoUvMEc40jexpBFw0MQU0SQM8NuZAyoLpbA1aeaOaMu8J1J7CPHKGAWyb0oSzKlv/8+lzT4yvIml30Xb310Eg0GFGiMgXsN9DpXn9ZxcIxeNDO7voY7U9te7seh5iqQ90+F9Oh6zV9EIVsHXU7RfYti0aphS70xkQMrH8U02VdY/efYQZjs9BVOz5yhnNWHULikSVkoNQbKoNAfUw7w8Xh0ZLUfIhtt+n6eaBqT9PsefZWxQ0nxTZbTu8cjgrZtvrlITrVF8wd4pDELyv8Hgu9EBAOyN28gKN3q4f2nzzeGR8WdX2Mnr8cu9u+i9QSwMEFAACAAgAgXqySgn+cEwJAwAAtQoAACcAAAB1bml2ZXJzYWwvZmxhc2hfcHVibGlzaGluZ19zZXR0aW5ncy54bWzVVt1SGjEUvucpMul4KYsWq2UWnI7A1FGBEdrqlRM2BzZjNtlusiBe9Wn6YH2SnmwEYbTOqnWm5QZyfr7znZ8cEh7eJJLMIDNCqybdqdYoARVpLtS0Sb+MutsHlBjLFGdSK2hSpSk5bFXCNB9LYeIhWIumhiCMMo3UNmlsbdoIgvl8XhUmzZxWy9wivqlGOgnSDAwoC1mQSrbAL7tIwdBWpUJI6EVnmucSiOBIQQnHjsmuZCamgTcbs+h6mulc8SMtdUay6bhJ39WKz9LGQ7VFAsolZ1oodGLbYJwLx4fJobgFEoOYxkh8v07JXHAbN+lu3aGgdfAQpcD2OTCHcqQxGWXv4BOwjDPL/NHHs3BjzVLgRXyhWCKiEWqIy79J26Orz5eDzvnpce/katTvn46OB55E4RNs4oTBZqAQCek8i2AVJ2TWsihG3ugzYdJAGKyLlmYTrTbIuTMZa4m1L7xwHpIx8B5LYK0bw2uhumi5Q8kEE5GLJv2UCSYpEZZJEa2cTT42Vtii/911S4JYOGdAzob0PryvThSzzMA6raXGuJpHrW86l5wsdE6kuAZiNcH88wR/xUDWm0MmmU4KKY6PJUYKjDgTMAd+WNT0DvBPgS4xRJKjJ05uKsH6CN9zcUvGMNEZ4gKb4YyjXBiPX30WcMqMuQdlS45bw9PjdufquNfuXGy5BBmfMRU9ExwbDklq3wKfYe5KYwgpNVZzDQIrE7HcQNEfLnhhVibN0rFjNiua7hpZgGK7BfLxmKiIcDSFyqEsYMQU0UouCIvwChk3QjOhc4MSPywe2ryIoHclQhVUp3iDMFjGISuDVtvZfV/f+7B/8LFRDX79+Ln9pNPdWhlI5qL5vXL05GJZLZeHdy4M3C54fDXYLP83N8PgvPO1TF17nYtRqW52hqXg+mWs+idlrM79KhusrbFSFHAPTf3Sw00kRSIs8L85Yi8Yk1f9g/gZe5sxecOcX3M1/puU/Wn1GNl4fYTBo88jp0mEEgkWwm3E1ZuqtVev4XvmUVWlgmibT81W5TdQSwMEFAACAAgAgXqyStqYtsO1AgAAVQoAACEAAAB1bml2ZXJzYWwvZmxhc2hfc2tpbl9zZXR0aW5ncy54bWyVVm1P4zAM/n6/Ytp9p/cKOqlMggESEnegA/E9bb02WppMiTtu//6cNKVJt25lEdLy+Hkcx7E9UrPmcvFpNktzJZR+BkQuS2ORDpvx4nKeNYhKnuVKIkg8k0rXTMwXn6/v7EoTxzylUlvQpPniPic0K5ZDf8yF+0yR+DN+Xtg1JshVvWFy96BKdZaxfF1q1ciCZHfuMyardhvQgsu1vcSvi+Xt6AGCG7xHqKOYvt/ZNU2y0WAM2JDOb+06qRIsAzEtwwNNf9Tx2w9kW244OtnVV7vGZBtWQpzk49HRw5D3DwsQ/iFRv53bNUoVbAf6Q87Vptl8SKBVaRMaa44/4rtGKFZQ+5Hg5otdJwX2Qvagk6/g0/Pjxq6A5L+GfZ/adtVKPNm8DgaCffRMwAJ1A2nS7VqbqdTbY4PUH7BYMWGIEEI96YmCfmKN6dzEWM/7C29cFqEvj/SUVyWaGpZtwIG7GO/5y+W1mxWh03csiFDD1oNBiD3YM/9QXveYAdgznwUv4FGK3X4EQ1Mr6h75mvnnPJ5/soJktC28tdt1VnvSg21dE4TqgY5TqwIWxobzwmuw75YmDmtDSvZiSiXb8pIhV/K35WU7dxmTJgODr7XDlZUiRwGHCs7FSGM6TJfbx/XorXFBtj8L/eXa/Qxpil/OGSLLq5p+lsx85nXUJpSYeXJYYeck0UHfy5UKNO7sMVHN9Br0i1Ji6jFSIZip7lXbXGP0NAlykCaHs5x6J4fSL5s6A31Lr8bBdFmOwZZY8bIS9IevHN6gGChGrK0UK/InGX+vywDwRQBM51VXte2mtdSNQC5gC13zB4C78tjdUkNVOlZwV/gAKwxLziOTatLPir5W4hkS4Af4rxRW5HhgmVD2yDLjbhZ1fjeG+1iiwdyNM1t84SRze19LkWOy72eQQPvv5H9QSwMEFAACAAgAgXqySnjWJgneAgAAxgkAACYAAAB1bml2ZXJzYWwvaHRtbF9wdWJsaXNoaW5nX3NldHRpbmdzLnhtbM1WwU4bMRC95yssVxzJAqWFRpugigSBoCQiaQsnNFk7WQuvvbW9CeHUr+mH9Us6XpOQCBotCKrmkux45s17M+PZxAe3mSQTbqzQqkm361uUcJVoJtS4Sb8Ojjb3KbEOFAOpFW9SpSk5aNXivBhKYdM+dw5dLUEYZRu5a9LUubwRRdPptC5sbvyploVDfFtPdBblhluuHDdRLmGGX26Wc0tbtRohcTB90ayQnAiGFJTw7EAeu0zSKHgNIbkZG10odqilNsSMh036bqv8zH0CUltkXHlttoVGb3YNYEx4OiD74o6TlItxirz3dimZCubSJt3Z9SjoHT1GKbGDBPAohxq1KHcPn3EHDByEx5DP8Vtn54ZgYjMFmUgGeEK8/CZtD66Pr3qdi7OT89PrQbd7NjjpBRJlTLSKE0eriWIkpAuT8EWeGJyDJEXeGDMCaXkcLZvmbiOtVsj5ZzLUEktfRlEyQqZy1qSfjQBJiXAgRbI4dWDG3B0JiRp87HZ9pBx9AAx6kxSM5cuJ5ifWVzFpfdeFZGSmCyLFDSdOE1RUZPgr5WS53GRkdFZaJVhHrBSMk4ngU84OyirdA/4t0RWmyAqMxFHMJXchw49C3JEhH2mDuBwmOLRoFzbg158FnIO1D6Aw57jRPztpd65Pztudyw0vENgEVPJMcGwhz3L3FviA2pXGFFJqrOYSBFYmgcLysj9MsNKtiszKuVOYlE33jSxBsd0C+QRMPEhwtIQqeFXABBTRSs4IJHgprB+hidCFRUsYlgBtX0QwhBKhSqpjXFCYzDBuqqBtbe+83/3wcW//U6Me/f75a3Nt0P2i6Enw2cKmOFy7Khbr4vGdiyN/Q5++7M4U/+qu9y4636pU6rxzOajUn06/Ely3ilf3tIrXRVhOvaXFVIkCbpZxWGO4W6TIhOPsNYfmBY1fv+XDWLxS499Qxdrx/X9FhKfFS33lLR5HT/7NqKF99b9Xq/YHUEsDBBQAAgAIAIF6skrb73U9lgEAAB8GAAAfAAAAdW5pdmVyc2FsL2h0bWxfc2tpbl9zZXR0aW5ncy5qc42Uy27CMBBF93xF5G4rRF+gdtcWkCqxqFR2VRdOGEKEY0e2k0IR/97Y4WE7kxbPBt8c3xkP8ux6Ub1IQqKnaGd/2/27v7caGE3LEq59nXXoudGJYtkC5lkOLONAAqQ6Hj3J+zOBGRNuTePth7FVjh8R5suSMuXiBWIhEU1hhysE/Ea0DXb45yT2nHs1d3IaHZdaC95PBNfAdZ8LmVPLkKuXqQn3igEsKpANOrALQZc0Ac90ZFcXeXZ8GJlwuUTkBeXbmUhFP6bJOpWi5IuGntrl0qttAbL+y9eHAh9HrxPPjmVKv2nIw8R3UxPdZCFBKTjkHU5MoDCjMbA/WxSgnnH7QgFdZSrTR/r5xoRLFzSFVpfaJdQNrb0u5TRsdEPcDk14BKNbkJdYiaIsLuGkSE1HWmi75yeUCbrIeNpw44EJlDPFGtuu7p0vej82QbwnJIIntMKeX941O0JQIaD2xtIxrwryzjA7hokcySEQDZtWFT5HdDhHzP4zIlRrmqzyejzUw7FuA5VrkHMhWF391391hrl6+19QSwMEFAACAAgAgXqySh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IF6skqw7V1XbgAAAHYAAAAcAAAAdW5pdmVyc2FsL2xvY2FsX3NldHRpbmdzLnhtbA3MPQ7CMAxA4b2nsLyXn42haTc2EBLlAFZjUCTHRomF4PZ4e8OnNy3fKvDh1otpwuPugMC6WS76SvhYz+MJoTtpJjHlhGoIyzxMYhvJnd0DdngL/bitXCOcr1RD3hp3ViePM4xwieezcMb9PPwBUEsDBBQAAgAIAIOZ9U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IF6skoXqeFBbwEAAPsCAAApAAAAdW5pdmVyc2FsL3NraW5fY3VzdG9taXphdGlvbl9zZXR0aW5ncy54bWyNUttq3DAQfc9XiPzAShrdDO6Cbi5+SUKykGd3rRbTRC6WQkvRx1dOsmy22dBqnmbOmTPM6LTp+xTtU8rz4/R7yNMc70LOU/yWthcItfv5YV5ulpBCTptj5X6K4/yzj1/ntVarKQ9xHJbRrmjaYtQ9P6SkVk7VjBlGkWSeeoWc57ZiDbgGbMUcJbbd/CXxoruEfYj5vGq7OUHfN/QxhSX3cQy/tnDKfgudbvB5Gcap8tJWsDXKYWpxbA3ECJfcF6oBQCDLHXG4SNlITZDHjGMoRlGggAjnpBGFSMqhZl0jqgrzjUBMMkZdoZ7WbqS1cdQWCQ0huk7zqrGl64zEGBFCgLnCBXQGo8qGqqFBrQcEBwZE0UYTBaiznelY8c4Ly5GiXmBcmDGA8fG4x+3enutY/e91Duf8h+DZLziLrt7anDFXu39alkrehccfD0MO6MuQQj9+ury59Xf+aqd3/fXV5as3n318YK6GrZt/6O8/UEsDBBQAAgAIAIJ6skqlSRcUvw0AAAIjAAAXAAAAdW5pdmVyc2FsL3VuaXZlcnNhbC5wbmftWmlYkunef8xOTqXZOpYZtGrnVC6hmaZQWdmmdaaZadxtXEkRFdeRpXKmTlPKlBXu2BkdZzIhRTEXoEVlTFyOTjAIirlAiqCGgsj2Pth0vrzX+/X9xIfn5rqX333/+W+//31d9+2L/r5Wq2xXAQBgdeb0iS8AYLkfAJgnf7YCHCFtdOOBP2aYL3yPA5RuuwmwszzmmN8xAKghrtZe+RvYX5l4OgADAGteGz8zNvrXSADYSTpz4tiXGaGyQdad+HQde3b78bU7Pru63GXlzpqze9LWLXv0m/afIevWH3N+2OAa+/jfOWU5J/fvvxG+bu2s75XHZTk5X2mttZeUGpyT6IKXasytmXYkXcE4QmX/YNGcWeoBw3Rz4sUt6dHK3+50sdJFONVIPS+0OWP84WVH7/k/LoFSATFxXUejIQcx92Qs1U17ayj87j5zcLguX/37YrqHa6ZG1jC60gwcGeAUjyXHfiAbtA6lRmDZ2/GWyCFa3ufLjMubikktM69WJ+0AO0erDEWksR+Mi8a/XQ62sTa7jMPNm5f2afsMbHsdT4HttTSXJfSddcYNQ+4aITITxAQxQUwQE8QEMUFMEBPEBDFBTBATxAQxQUwQE8QEMUFMkP93SEZFJRm/ODJOCmNmzAy/bNuKbkmaZUzjpm/DeHEUUXBPIxN5BFz5nub9ix87T9UWbJgddyKoT7EZmIGAmGpyt4aZLyWw2ToXyBwH1hPshV1wDuU7vA0WNQ4hs4zI2SlaD7yGpUW02am66RWoocJ+YUPEYgQH9R1HKTp+14KxOFk1uwo+If6uUubx1jIid9vv2MlL5KaFmVsILVN/j4gdGxmFGhYqiLipiOmg7sEC5NiACqp77wsNoDNCKIWB3Si6v+qxNe79vagqaFYzpInoldv5XJ5C1o45TCd7ZmUOERWbrob6rQBe+HXVCDzWnH9Exc9XJTU3iF2RgxjnBtm2lvCd7dly6YmrlPSB0kuclxIJwqDuNP9PHXYaRlZzNAPCsn4JgMMqaWSGtgmxLT1CqbM8F00mLPaT8ejEg9m3U4PuSsgE/fCLOG4RlSYvTjhQpGmz3BnNX8Q3J9yX7yKOHqR4DsZLiw1CUow6jcGOkkvS1bSIbs0a/OFlQOIpsQ2KytJ/h4Vn+vfR0RWp3R3CdqKa9MQF8oDyB+4eXUIXb8esCZVI7b7/pT++yyzds6zk8ufx1l9KWnI9EP7uGtyRa/kWXMuzYo0u/MqKSExQlwqTyEyguaUEVBZpXntmkHe0Kr/aQdYIJSPDUR4p0EZZFOfQ02kqKJaiCSF62zuWnfHDQAij0BK4pnCmXvTv2dXjN6CsrutuLBB4ojQH2jIuNh1XnRwoFQTmVUXcssP0MrxnvFv3+cEPY4qm0M1bHDk8nXMcM4y6rOBlu20gZ+ZKSfRTzWvL3UqqbYGBOUn3/niqCoNgyFPiMmpRRIHF7Kr65gy3LQAguQKX7vS+5eWL1DT0eUqic60go5Ki1k+HXqo2/7MuPg6fx9L5EQ5aTErfWgoZKYLqxx34a86iaQvriBJ8gKTAnzB4caQXN/ZH52FlCi+EdamcPRpymmQFHG1QnxzxIOR2hA5YBCFLMK7o/jMCwmqjfjlG/X4pBQ4dEAxA6xK6rn/Y7+6sDq8QyA2Y2PvdhM2Fdk4hhwBgsFudfSGvzpoOindV/zR5wMJ94+ixiR+FNsgs//o14f21UUPJSe9dYc4FPfdPk6NeDhY2/Blv8ZWgx7WAOXQDRicja90qw9DoLVLFqV+qFYGUxfN5VfJdlaHtNZUwVzNgWNgy13duNnPU45zmyr5qTHcodrbtOTRhe3t238PnOQTtKJR4OI3/9z5l8WT+4w7LE9yYsqmu6wuLQHcUwblzMF/n9To7VcBB1azYBXuQL4i6GRj3rP7mXkWqlQ1dylHH31oH+/VPCg0aHB+SDm3siuLoPtjzxs9sLdQu8li5uifklRO1ZsB7154sxL96uFl95biah1yPGOI7J1Q7aIj1DUlvw8eeRFWeFmCe8NW8QUDTcGq/FOWR5TBUJnwxJc3UdH7jc78+fsWmOH5LU8S8zOIl5fobz0ElPcg8d0Ix/+R6q1D+G1EQ2l4ssW21w4RQbIXF//CGWKtfWuMTZzUig344wvBJjJQ3ZJvSsGGZbsSGlYFWE/FzP/s+Ysxzg2wQGn6PIx6MvtAs+CiJpR3PkriI0LwtmFBaPFNOCnGQ3QH9NlXcxDmUIGjKpW1TiIxfx36yzl2EVo3mK0rgbDNBqjKB5vRoA0K0G1Twpuc5souRhLUpb2svlcvM5KHfedkrsmeoBF0cdooKum/M8aZ4AFjkxASUS+6wA3t8Vdzh8NKGX8ZHS9KHGpVYMel7GtZbVXL9ZWCMduICoWkqbnvSBiQhviKVQqOo0hJdsu+iglgL56PVlg/EGr64ngE7WkBXstNKGI0tHl2okhm1PeiPjtpDyiPDfxq1bC5kzGUEK4mqat0EPSwvhQ8AKZnyRskIpq0oX1IsPYrnPIsUcHsjs7YjzHNBPTiRcFZHlBKaSiDSKz+4Ci4ncZr6oxNrvWU1fXD+WWlwDKUnXxYk6+2NPHCB60kbhB0O8PlZlxgrE1UpB1Ec3C5ZXpwx5oYF+duepU79VxWOGraGG1jKtF+yzIfD+sBuL4kQ+ox6mcBRIWMPDuE1sk7mipUTWDq3yoluft+t7Axa4HFqwAEMNilnPoB7SBQde5CLD64UTb9OuuyT14guxyXnbLY+a4PdSjOn54ak/Vjn/WLwHJEdZcgQBXb283Ybgy6kT9FaVCgpxiQiLKYjrHzED9fRsFkXERa6CEJhKrwj7eKz0JJauHWU1SYlmu/x9acDC1Al0kMCd6qlh6srX2AN55bFxoc11qaCJ99Tdrh967U35D3qaUmdXfPURmTWtWYShNipn2XWP6qknjHaualcctu9vpQor7Z2CbGYjxt2ic53JsfU4qo6JjEzrHrcpg5bOoc3zy3O1LwJxF9Cko12hvGQFNWAnN/t45MnS8vlU2SZKNEjWGdD5+c+eQa3I+HSJbtiHqrv7AEt1OA0hFV0+WJHt4qeL7Q6wNfxzIacvCEk3Sgu7sCFTwYfzXH/y+CCy4VPX76oXTPJ23eKC1xBbM9PG7xuUJp/wQvCKAlXxPZ/Gbl5mxTzjZglkQ64S1kN0j2wxIL+6uv9SkXwo3oCVNUbKd+KJAfvAr3+b6L2qWvVEaSSnaieHbDN6i40HtMrfIYprHOc+fV/+Z4ajMTN5H1DrV6SlslrOITrFinKTcMqxXBAKTbtuzVUm/y07gKYH3n8BLby4c5Re5+8zB+6PKmyZ7EMN2Rj1eMOoXsfvPHUXYuK1cwcvlkQ2/EImNzHzoUtfmH3YDdmIAXyglDBjqi1n5uoYek1n1KBYvhl9gJ29htFseKJudLVNQBdvSXuJ2dRZYNkqieL8SpyKqw6+dLHWAOLl6wSHnkVRPO4I20racuPHH0BzoUblM9N63mBLFE9vwNK4dCnP3zcKAUrpz6b9PH/D7XI7K18KR9AHShGiGC2bWMZdGh5gUgnT7cxNo2veExl/cI3jbfnMrwi8UcpHamB+Lc93xt1M5e5OFHpBIFjN5NhkIg1XKptKGdtuD/NsNodtjyfefPvCt0OwXz0v54t2u4Vfj0A/eilA9PEzKLuufl/3Atg0q+g/WGaSKaItS2mpEd54EycodTzaKCY6ay6XYfIXQtSzSphe9reWsRnTVeNJDDVFZM/dWsnQSMQOerVPYTQwmlVJ+FDHjlYu8BG5FqMe6n7yq75VrDf+IEs+JV4D0Hhc/BA81+JzNNbJcTMeow2ntN8C3KNfIlrnHI3Lh0DMpoSr1eQEQfXqhVkg5aZPYUU9GsnL7OatNg83cRzaN9P/935I79SSWF4DzjaKwaJAK3Qza+iMm1Vr62MyWS9kcAZMufI8uypGsQgj6Wfz/AsxSJPv/i5L2Lcvm901rG8cwVQJpBSWRDykdKqTxwb2L0S3RlgjNV7GqOB8Jvvr6ll61Nu2qsu264HHXTJFC2rl3xECZagxXNqe5XfR4afB2vPdlyij5HifwcpPgZtUBarLfN0x5R6jF+LtwR/zmcZ5CFkn/vsMe2Fq467jOmGExNYLvlJshdl+DpQYscA6ThJg95h5N9GJ1DjFdY3dEaWGjJTYllhcOhyjW6aYLhnniQnuu4e/udETfIGBfzVXD62GPI6a5MZcDgC2orpczj2sY7K5LBXuEBSwsK4KVPox2C9qFZZnaQoqtE46QjIIbctxrz4+nkqoW2HmWG+ZBrrAP86YYQStt5D4k2657gVAB5ZWENaJXmSb+Gvd6FU3GL76ixH8SF/Ae7GZusman9j0flCcfUh5OH7HGR/JkAsVG0YajOUi72g/UvCYCR6tT3bTlWq2Jcgf0/6DZQFOh3ZwE8KU7+5PPJTZKa0usHxAi3MGrxEOPC0r2R2Fg5siKpUOhxLn8jFF9iOPpRPurenv3sgOk54tzrseYaiy13k7lzQsJ8jyOjzBCt+L76830XmkvCdUMDUuW/8v64oCU4tM8dDjTeTi5PJoR8G4qhtS+8rqh0le6aZmoTgpbXgVPIsy2AMqgvG2d5o8W7FdHLsQQN+4TW0fcOyTw87VEO9kXrdO2vCc+NbkJGzxsWSq+IdMBv1NOvOHYPZH+cFpe/cowTGiTMn/U9Qjoff+B9QSwMEFAACAAgAgnqyStIooFJKAAAAawAAABsAAAB1bml2ZXJzYWwvdW5pdmVyc2FsLnBuZy54bWyzsa/IzVEoSy0qzszPs1Uy1DNQsrfj5bIpKEoty0wtV6gAihnpGUCAkkIlKrc8M6UkAyhkYG6OEMxIzUzPKLFVsjCwgAvqA80EAFBLAQIAABQAAgAIAEOUV0cNwDEewAEAANoDAAAPAAAAAAAAAAEAAAAAAAAAAABub25lL3BsYXllci54bWxQSwECAAAUAAIACACBerJKWn+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+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==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F0F2F4"/>
      </a:lt2>
      <a:accent1>
        <a:srgbClr val="D90944"/>
      </a:accent1>
      <a:accent2>
        <a:srgbClr val="243B7A"/>
      </a:accent2>
      <a:accent3>
        <a:srgbClr val="5188E1"/>
      </a:accent3>
      <a:accent4>
        <a:srgbClr val="F65083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自定义 7">
      <a:majorFont>
        <a:latin typeface="Segoe UI"/>
        <a:ea typeface="微软雅黑"/>
        <a:cs typeface=""/>
      </a:majorFont>
      <a:minorFont>
        <a:latin typeface="Calibr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宽屏</PresentationFormat>
  <Paragraphs>86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思源黑体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/>
  <cp:lastModifiedBy/>
  <cp:revision>1</cp:revision>
  <dcterms:created xsi:type="dcterms:W3CDTF">2021-05-12T03:31:37Z</dcterms:created>
  <dcterms:modified xsi:type="dcterms:W3CDTF">2025-10-23T11:10:36Z</dcterms:modified>
</cp:coreProperties>
</file>